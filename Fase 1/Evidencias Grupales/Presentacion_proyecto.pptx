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CONzUHdf7Kg1+KNbwqb7ptjLO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644374-73E9-49F0-8861-10E73AABC658}">
  <a:tblStyle styleId="{81644374-73E9-49F0-8861-10E73AABC6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38A0F27-48D8-4130-96C2-47D72D0BC8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3550bbc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73550bbc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c4c5283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8c4c5283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c4c528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8c4c5283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“MediFlow”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90224"/>
            <a:chOff x="0" y="0"/>
            <a:chExt cx="6781017" cy="4590224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Vicente Saud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 - Desarrollador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tareas, aprobar documentos y funciones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Joaquin Ramirez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- QA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tareas y realizar pruebas unitarias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Camilo Avendaño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- QA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tareas y realizar pruebas unitarias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William Chamorro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- QA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tareas y realizar pruebas unitarias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Las personas enfrentan constantes dudas sobre qué alimentos pueden consumir de forma segura al padecer una enfermedad, seguir regímenes dietéticos o tomar medicamentos prescritos. Actualmente, la información nutricional se encuentra dispersa, carece de validación científica en canales digitales informales y no advierte oportunamente sobre riesgosas interacciones fármaco-alimento, lo que incrementa el riesgo de complicaciones de salud en la población. 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MediFlow es una plataforma digital de salud y nutrición que centraliza datos clínicos, alimentarios y farmacológicos. Integra un asistente inteligente con IA para resolver dudas dietéticas y validar contraindicaciones en tiempo real, un espacio de microblogging médico verificado donde especialistas publican pautas confiables, y un sistema de agendamiento y pago de consultas médicas personalizadas. 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54690" y="16343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Desarrollar la plataforma digital MediFlow mediante una arquitectura web y de escritorio que integre inteligencia artificial, divulgación médica verificada y gestión de citas clínicas, con el fin de entregar orientación nutricional confiable y prevenir complicaciones de salud derivadas de la alimentación y tratamientos farmacológicos. </a:t>
            </a:r>
            <a:endParaRPr i="0" sz="2500" u="none" cap="none" strike="noStrike">
              <a:solidFill>
                <a:schemeClr val="dk1"/>
              </a:solidFill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475" y="3918720"/>
            <a:ext cx="10962900" cy="279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Diseñar y estructurar un modelo de datos relacional</a:t>
            </a:r>
            <a:r>
              <a:rPr lang="es-CL" sz="1300">
                <a:solidFill>
                  <a:schemeClr val="dk1"/>
                </a:solidFill>
              </a:rPr>
              <a:t> que centralice información sobre patologías, medicamentos, tablas nutricionales y perfiles de usuarios bajo estándares de interoperabilidad.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Integrar un motor de inteligencia artificial (API Gemini)</a:t>
            </a:r>
            <a:r>
              <a:rPr lang="es-CL" sz="1300">
                <a:solidFill>
                  <a:schemeClr val="dk1"/>
                </a:solidFill>
              </a:rPr>
              <a:t> capaz de interpretar lenguaje natural para generar recomendaciones dietéticas y alertar sobre interacciones negativas fármaco-alimento con baja latencia.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Construir un feed de divulgación en tiempo real</a:t>
            </a:r>
            <a:r>
              <a:rPr lang="es-CL" sz="1300">
                <a:solidFill>
                  <a:schemeClr val="dk1"/>
                </a:solidFill>
              </a:rPr>
              <a:t> con control de roles, que faculte exclusivamente a médicos acreditados a publicar pautas de salud y a los usuarios a reaccionar a ellas.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Implementar un módulo de gestión médica y transaccional</a:t>
            </a:r>
            <a:r>
              <a:rPr lang="es-CL" sz="1300">
                <a:solidFill>
                  <a:schemeClr val="dk1"/>
                </a:solidFill>
              </a:rPr>
              <a:t> para la administración de agendas, reserva de citas, cobros mediante pasarelas de pago (WebPay, MercadoPago, PayPal) y emisión de pautas en PDF.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Asegurar la plataforma perimetralmente y proteger datos sensibles</a:t>
            </a:r>
            <a:r>
              <a:rPr lang="es-CL" sz="1300">
                <a:solidFill>
                  <a:schemeClr val="dk1"/>
                </a:solidFill>
              </a:rPr>
              <a:t> mediante Cloudflare, cifrado de información clínica y cumplimiento de la normativa de privacidad vigente (Ley N° 19.628).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Validar la usabilidad, rendimiento y precisión clínica</a:t>
            </a:r>
            <a:r>
              <a:rPr lang="es-CL" sz="1300">
                <a:solidFill>
                  <a:schemeClr val="dk1"/>
                </a:solidFill>
              </a:rPr>
              <a:t> del sistema mediante pruebas Alfa/Beta continuas con usuarios y profesionales de la salud antes del despliegue en producción.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27000" y="987873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7200" y="3240950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3550bbc0_0_9"/>
          <p:cNvSpPr txBox="1"/>
          <p:nvPr>
            <p:ph type="title"/>
          </p:nvPr>
        </p:nvSpPr>
        <p:spPr>
          <a:xfrm>
            <a:off x="720340" y="829397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5" name="Google Shape;125;g3f73550bbc0_0_9"/>
          <p:cNvSpPr txBox="1"/>
          <p:nvPr/>
        </p:nvSpPr>
        <p:spPr>
          <a:xfrm>
            <a:off x="720350" y="1789575"/>
            <a:ext cx="10985700" cy="3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Gestión de perfiles y registros de salud:</a:t>
            </a:r>
            <a:r>
              <a:rPr lang="es-CL">
                <a:solidFill>
                  <a:schemeClr val="dk1"/>
                </a:solidFill>
              </a:rPr>
              <a:t> Permite registrar usuarios generales y validar credenciales de profesionales de la salud, almacenando patologías, alergias y tratamientos farmacológicos.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Orientación nutricional asistida por IA:</a:t>
            </a:r>
            <a:r>
              <a:rPr lang="es-CL">
                <a:solidFill>
                  <a:schemeClr val="dk1"/>
                </a:solidFill>
              </a:rPr>
              <a:t> Evalúa consultas en lenguaje natural para identificar interacciones riesgosas entre alimentos y fármacos, entregando listas de alimentos recomendados y menús personalizados.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Red de divulgación médica verificada:</a:t>
            </a:r>
            <a:r>
              <a:rPr lang="es-CL">
                <a:solidFill>
                  <a:schemeClr val="dk1"/>
                </a:solidFill>
              </a:rPr>
              <a:t> Proporciona un feed en tiempo real donde exclusivamente los profesionales acreditados publican notas y recomendaciones de salud pública, permitiendo a los usuarios interactuar mediante reacciones y guardado en favoritos.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Gestión clínica y transaccional:</a:t>
            </a:r>
            <a:r>
              <a:rPr lang="es-CL">
                <a:solidFill>
                  <a:schemeClr val="dk1"/>
                </a:solidFill>
              </a:rPr>
              <a:t> Permite la publicación de disponibilidad médica, reserva de citas, pago de consultas a través de pasarelas integradas (WebPay, MercadoPago, PayPal) y emisión de pautas dietéticas descargables en PDF.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>
                <a:solidFill>
                  <a:schemeClr val="dk1"/>
                </a:solidFill>
              </a:rPr>
              <a:t>Ecosistema multiplataforma y seguro:</a:t>
            </a:r>
            <a:r>
              <a:rPr lang="es-CL">
                <a:solidFill>
                  <a:schemeClr val="dk1"/>
                </a:solidFill>
              </a:rPr>
              <a:t> Opera mediante una aplicación web responsiva para usuarios/médicos y una aplicación de escritorio para administradores, protegidas bajo capas de seguridad perimetral y cifrado de datos clínicos.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730315" y="799472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777675" y="1731100"/>
            <a:ext cx="108450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reemplaza el criterio médico o nutricional:</a:t>
            </a:r>
            <a:r>
              <a:rPr lang="es-CL">
                <a:solidFill>
                  <a:schemeClr val="dk1"/>
                </a:solidFill>
              </a:rPr>
              <a:t> Las respuestas emitidas por la IA tienen un carácter exclusivamente informativo y educativo, no vinculante como dictamen clínico.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realiza diagnósticos de patologías:</a:t>
            </a:r>
            <a:r>
              <a:rPr lang="es-CL">
                <a:solidFill>
                  <a:schemeClr val="dk1"/>
                </a:solidFill>
              </a:rPr>
              <a:t> El sistema no determina diagnósticos clínicos ni clasifica enfermedades a partir de síntomas ingresados por el usuario.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prescribe, dosifica ni modifica medicamentos:</a:t>
            </a:r>
            <a:r>
              <a:rPr lang="es-CL">
                <a:solidFill>
                  <a:schemeClr val="dk1"/>
                </a:solidFill>
              </a:rPr>
              <a:t> La plataforma no genera recetas farmacológicas ni ajusta dosis de tratamientos preexistentes.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atiende urgencias médicas en tiempo real:</a:t>
            </a:r>
            <a:r>
              <a:rPr lang="es-CL">
                <a:solidFill>
                  <a:schemeClr val="dk1"/>
                </a:solidFill>
              </a:rPr>
              <a:t> No funciona como servicio de triaje crítico ni canal de asistencia para emergencias vitales (no sustituye a servicios de ambulancia o urgencias hospitalarias).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permite la publicación abierta a usuarios generales:</a:t>
            </a:r>
            <a:r>
              <a:rPr lang="es-CL">
                <a:solidFill>
                  <a:schemeClr val="dk1"/>
                </a:solidFill>
              </a:rPr>
              <a:t> Los usuarios no pueden crear publicaciones en el feed público para prevenir la propagación de desinformación o mitos nutricionales.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No comercializa ni distribuye fármacos o alimentos:</a:t>
            </a:r>
            <a:r>
              <a:rPr lang="es-CL">
                <a:solidFill>
                  <a:schemeClr val="dk1"/>
                </a:solidFill>
              </a:rPr>
              <a:t> El sistema no opera como farmacia digital ni gestiona la logística de compraventa o entrega física de insumos y medicamentos.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Usuario General (Paciente / Ciudadano):</a:t>
            </a:r>
            <a:r>
              <a:rPr lang="es-CL" sz="1300">
                <a:solidFill>
                  <a:schemeClr val="dk1"/>
                </a:solidFill>
              </a:rPr>
              <a:t> Persona que registra su perfil de salud (patologías, alergias y medicamentos), realiza consultas nutricionales al asistente IA, interactúa con el feed profesional (reacciona y guarda notas), agenda citas y efectúa pagos en línea.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Profesional de la Salud (Médico / Nutricionista):</a:t>
            </a:r>
            <a:r>
              <a:rPr lang="es-CL" sz="1300">
                <a:solidFill>
                  <a:schemeClr val="dk1"/>
                </a:solidFill>
              </a:rPr>
              <a:t> Especialista acreditado que gestiona su disponibilidad de agenda, atiende consultas clínicas, emite pautas dietéticas descargables en PDF y divulga recomendaciones sanitarias mediante publicaciones breves en el feed en tiempo real.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Administrador del Sistema:</a:t>
            </a:r>
            <a:r>
              <a:rPr lang="es-CL" sz="1300">
                <a:solidFill>
                  <a:schemeClr val="dk1"/>
                </a:solidFill>
              </a:rPr>
              <a:t> Rol con privilegios elevados que opera a través de la aplicación de escritorio para validar credenciales médicas, gestionar roles y usuarios, moderar contenido reportado y supervisar métricas generales del sistema.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Sistema Inteligente (Motor IA / Gemini):</a:t>
            </a:r>
            <a:r>
              <a:rPr lang="es-CL" sz="1300">
                <a:solidFill>
                  <a:schemeClr val="dk1"/>
                </a:solidFill>
              </a:rPr>
              <a:t> Servicio de procesamiento de lenguaje natural encargado de resolver dudas dietéticas, analizar compatibilidad fármaco-alimento y generar sugerencias de menús personalizados con baja latencia.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Sistema Autónomo (Backend &amp; Tareas Automatizadas):</a:t>
            </a:r>
            <a:r>
              <a:rPr lang="es-CL" sz="1300">
                <a:solidFill>
                  <a:schemeClr val="dk1"/>
                </a:solidFill>
              </a:rPr>
              <a:t> Núcleo del backend (Go / Express) que gestiona sockets en vivo, ejecuta recordatorios programados por correo, asegura el cifrado de datos y aplica reglas de control de acceso.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Servicios e Integraciones Externas:</a:t>
            </a:r>
            <a:r>
              <a:rPr lang="es-CL" sz="1300">
                <a:solidFill>
                  <a:schemeClr val="dk1"/>
                </a:solidFill>
              </a:rPr>
              <a:t> Pasarelas de pago (WebPay Plus, MercadoPago, PayPal) para la liquidación de consultas y servicios para el envío de correos.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1300">
                <a:solidFill>
                  <a:schemeClr val="dk1"/>
                </a:solidFill>
              </a:rPr>
              <a:t>Equipo de Desarrollo y Soporte (Opcional como actor operativo):</a:t>
            </a:r>
            <a:r>
              <a:rPr lang="es-CL" sz="1300">
                <a:solidFill>
                  <a:schemeClr val="dk1"/>
                </a:solidFill>
              </a:rPr>
              <a:t> Encargados del despliegue continuo, mantenimiento de la infraestructura en Cloudflare/Vercel y actualización de versiones web y de escritorio.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39476" y="1923150"/>
            <a:ext cx="487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Requerimientos funcionales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Registro e inicio de sesión de usuarios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Registro y validación de profesionales de la salud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Gestión de perfil de salud del paciente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Autenticación de doble factor (2FA)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Gestionar notas médicas ("Tweets/Tips")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Restricción de publicación en el feed público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Reacción a publicaciones médicas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Feed Profesional en tiempo real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Búsqueda y filtrado de notas por especialidad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Guardado de publicaciones en favoritos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Reporte y moderación de contenido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Consulta nutricional asistida por 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Validación de interacciones fármaco-alimento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Generación de listas de alimentos permitidos y restringidos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Historial de consultas con el asistente inteligente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Generación de planes dietéticos y recetas personalizadas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936026" y="1923150"/>
            <a:ext cx="487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Requerimientos funcionales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 por consumo riesgoso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Exportación de pautas nutricionales a PDF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agenda y disponibilidad médica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Agendamiento de citas médicas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Cancelación y reprogramación de citas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Recordatorios automáticos de citas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Emisión de recetas dietéticas post-consulta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pago de consultas médicas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Calificación y reseñas de atención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perfiles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Enviar notificaciones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Comunicar con MercadoPago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Comunicar con Paypal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Comunicar con WebPay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Comunicar con Sistema Correo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c4c5283c_0_14"/>
          <p:cNvSpPr txBox="1"/>
          <p:nvPr>
            <p:ph type="title"/>
          </p:nvPr>
        </p:nvSpPr>
        <p:spPr>
          <a:xfrm>
            <a:off x="841416" y="10544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50" name="Google Shape;150;g3f8c4c5283c_0_14"/>
          <p:cNvSpPr/>
          <p:nvPr/>
        </p:nvSpPr>
        <p:spPr>
          <a:xfrm>
            <a:off x="839476" y="1923150"/>
            <a:ext cx="487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Requerimientos no funcionales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Soporte de internacionalización y traducción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Selector de tema de interfaz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Panel de administración y analítica general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Sistema debe interoperar con MercadoPago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Sistema debe interoperar con Paypal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Sistema debe interoperar con WebPay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Sistema Usuarios debe ser web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Sistema Administrador debe ser escritorio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Protección perimetral y mitigación DDoS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Encriptación de datos clínicos y personales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Rendimiento y optimización de carga web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Concurrencia y baja latencia en backend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Compatibilidad multiplataforma de escritorio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Alta disponibilidad del servicio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Tiempo de respuesta del Asistente 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Integridad y persistencia híbrida de datos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 y trazabilidad de accesos Profesionales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 privacidad de datos de salud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responsivo y adaptabilidad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8c4c5283c_0_14"/>
          <p:cNvSpPr/>
          <p:nvPr/>
        </p:nvSpPr>
        <p:spPr>
          <a:xfrm>
            <a:off x="5936026" y="1923150"/>
            <a:ext cx="48756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Requerimientos no funcionales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Respaldo y recuperación ante desastres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almacenamiento en caché local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pruebas automatizadas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base de datos relacional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 despliegue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Soporte de solicitudes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Backup/Recuperación de datos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en PDF o Excel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División en módulos independientes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24/7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debe ser intuitivo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visible en dispositivos móviles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debe contar con colores adecuados que ayuden a la lectura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debe entregar las operaciones correctamente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debe entregar respuestas oportunamente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API Gemini bajo estándares de de latencia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75" y="1848350"/>
            <a:ext cx="4712000" cy="22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6975" y="2039225"/>
            <a:ext cx="6578300" cy="31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s-CL" sz="3560"/>
              <a:t>Mockups del Sistema</a:t>
            </a:r>
            <a:endParaRPr sz="3560"/>
          </a:p>
        </p:txBody>
      </p:sp>
      <p:pic>
        <p:nvPicPr>
          <p:cNvPr id="165" name="Google Shape;16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75" y="2127600"/>
            <a:ext cx="6157351" cy="29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8975" y="2085263"/>
            <a:ext cx="540067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611327" y="92896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2" name="Google Shape;172;p10"/>
          <p:cNvGraphicFramePr/>
          <p:nvPr/>
        </p:nvGraphicFramePr>
        <p:xfrm>
          <a:off x="1478547" y="1728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{81644374-73E9-49F0-8861-10E73AABC658}</a:tableStyleId>
              </a:tblPr>
              <a:tblGrid>
                <a:gridCol w="3835950"/>
                <a:gridCol w="5134650"/>
              </a:tblGrid>
              <a:tr h="408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1: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"Arquitectura, Modelado y Base"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 Ago – 30 Ago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2: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"Autenticación, Verificación &amp; Desktop"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 Ago – 13 Sep 2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3: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"Feed Médico &amp; WebSockets Go"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Sep – 27 Sep 2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4: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"Motor de Asistencia IA (Gemini)”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Sep – 11 Oct 2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5: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"Citas Médicas, Fichas &amp; Pasarelas de Pago"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Oct – 25 Oct 2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6: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"Seguridad, QA Alfa/Beta y Despliegue 100%"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Oct – 08 Nov 2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semanas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Desarrollo (100% Operativo)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 Nov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7: 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"Marcha Blanca, Monitoreo y Defensa Final"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GENERAL DEL PROYECTO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semanas Cierre</a:t>
                      </a: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 Dic 2026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Google Shape;177;p11"/>
          <p:cNvGraphicFramePr/>
          <p:nvPr/>
        </p:nvGraphicFramePr>
        <p:xfrm>
          <a:off x="1037350" y="135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{A38A0F27-48D8-4130-96C2-47D72D0BC820}</a:tableStyleId>
              </a:tblPr>
              <a:tblGrid>
                <a:gridCol w="1498525"/>
                <a:gridCol w="1498525"/>
                <a:gridCol w="1326550"/>
                <a:gridCol w="2112650"/>
                <a:gridCol w="1412525"/>
                <a:gridCol w="1191400"/>
                <a:gridCol w="1191400"/>
              </a:tblGrid>
              <a:tr h="569600"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/ Hito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Fechas y Duración Est.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Descripción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Costo RR.HH. (Desarrollo &amp; QA)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Infraestructura, APIs y Servicios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Subtotal Fase (CLP)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Subtotal Aprox. (USD)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1: Arquitectura, Modelado y Base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17 Ago – 30 Ago </a:t>
                      </a:r>
                      <a:r>
                        <a:rPr lang="es-CL" sz="1000"/>
                        <a:t>2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Setup Next.js, Supabase, arquitectura modular y UI base.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$150.000 </a:t>
                      </a:r>
                      <a:r>
                        <a:rPr i="1" lang="es-CL" sz="1000"/>
                        <a:t>(Dominios, Setup Cloud, Supabase Pro)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$2.550.000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$2.680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2: Autenticación, Verificación &amp; Desktop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31 Ago – 13 Sep 2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Registro 2FA, validación de médicos y app Tauri/Electrón.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$120.000 </a:t>
                      </a:r>
                      <a:r>
                        <a:rPr i="1" lang="es-CL" sz="1000"/>
                        <a:t>(Certificados, Auth Services)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$2.520.000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$2.650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3: Feed Médico &amp; WebSockets Go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14 Sep – 27 Sep 2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Microblogging profesional en tiempo real y reacciones.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$180.000 </a:t>
                      </a:r>
                      <a:r>
                        <a:rPr i="1" lang="es-CL" sz="1000"/>
                        <a:t>(Servidores Backend VPS / Cloud)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$2.580.000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$2.715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4: Motor de Asistencia IA (GPT)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28 Sep – 11 Oct 2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Análisis de interacciones fármaco-alimento y menús.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$450.000 </a:t>
                      </a:r>
                      <a:r>
                        <a:rPr i="1" lang="es-CL" sz="1000"/>
                        <a:t>(Consumo API OpenAI / Pruebas IA)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$2.850.000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$3.000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11"/>
          <p:cNvSpPr txBox="1"/>
          <p:nvPr>
            <p:ph type="title"/>
          </p:nvPr>
        </p:nvSpPr>
        <p:spPr>
          <a:xfrm>
            <a:off x="394873" y="714574"/>
            <a:ext cx="8084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c4c5283c_0_4"/>
          <p:cNvSpPr txBox="1"/>
          <p:nvPr>
            <p:ph type="title"/>
          </p:nvPr>
        </p:nvSpPr>
        <p:spPr>
          <a:xfrm>
            <a:off x="394873" y="714574"/>
            <a:ext cx="8084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84" name="Google Shape;184;g3f8c4c5283c_0_4"/>
          <p:cNvGraphicFramePr/>
          <p:nvPr/>
        </p:nvGraphicFramePr>
        <p:xfrm>
          <a:off x="1037350" y="135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{A38A0F27-48D8-4130-96C2-47D72D0BC820}</a:tableStyleId>
              </a:tblPr>
              <a:tblGrid>
                <a:gridCol w="1498525"/>
                <a:gridCol w="1498525"/>
                <a:gridCol w="1326550"/>
                <a:gridCol w="2112650"/>
                <a:gridCol w="1412525"/>
                <a:gridCol w="1191400"/>
                <a:gridCol w="1191400"/>
              </a:tblGrid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5: Citas Médicas, Fichas &amp; Pasarelas de Pago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12 Oct – 25 Oct 2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Agenda clínica, WebPay, MercadoPago, PayPal y PDFs.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$280.000 </a:t>
                      </a:r>
                      <a:r>
                        <a:rPr i="1" lang="es-CL" sz="1000"/>
                        <a:t>(Servicio Correos, Sandboxes)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$2.680.000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$2.820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6: Seguridad, QA Alfa/Beta y Despliegue 100%-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26 Oct – 08 Nov 2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Cloudflare, pruebas de integración y puesta en producción.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$350.000 </a:t>
                      </a:r>
                      <a:r>
                        <a:rPr i="1" lang="es-CL" sz="1000"/>
                        <a:t>(Cloudflare Pro, Backup, Hosting Vercel)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$2.750.000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$2.895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Subtotal Desarrollo (100% Operativo)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12 semanas </a:t>
                      </a:r>
                      <a:r>
                        <a:rPr lang="es-CL" sz="1000"/>
                        <a:t>Entrega: </a:t>
                      </a:r>
                      <a:r>
                        <a:rPr b="1" lang="es-CL" sz="1000"/>
                        <a:t>09 Nov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—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$14.400.000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$1.530.000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$15.930.000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≈ $16.760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Fase 7: Marcha Blanca, Monitoreo y Defensa Final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09 Nov – 04 Dic 4</a:t>
                      </a:r>
                      <a:r>
                        <a:rPr lang="es-CL" sz="1000"/>
                        <a:t> semanas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Soporte post-lanzamiento, métricas y examen final.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$2.400.000 </a:t>
                      </a:r>
                      <a:r>
                        <a:rPr i="1" lang="es-CL" sz="1000"/>
                        <a:t>(Soporte part-time)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$120.000 </a:t>
                      </a:r>
                      <a:r>
                        <a:rPr i="1" lang="es-CL" sz="1000"/>
                        <a:t>(Consumo mensual base cloud)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$2.520.000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$2.650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00"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TOTAL GENERAL DEL PROYECTO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16 semanas Cierre</a:t>
                      </a:r>
                      <a:r>
                        <a:rPr lang="es-CL" sz="1000"/>
                        <a:t>: </a:t>
                      </a:r>
                      <a:r>
                        <a:rPr b="1" lang="es-CL" sz="1000"/>
                        <a:t>04 Dic 2026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CL" sz="1000"/>
                        <a:t>—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$16.800.000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$1.650.000</a:t>
                      </a:r>
                      <a:endParaRPr b="1"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$18.450.000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0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CL" sz="1000"/>
                        <a:t>≈ $19.410</a:t>
                      </a:r>
                      <a:endParaRPr sz="10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641252" y="1828016"/>
            <a:ext cx="108612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Next.js 15:</a:t>
            </a:r>
            <a:r>
              <a:rPr lang="es-CL" sz="1700">
                <a:solidFill>
                  <a:schemeClr val="dk1"/>
                </a:solidFill>
              </a:rPr>
              <a:t> Framework utilizado para desarrollar la aplicación web.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React 19:</a:t>
            </a:r>
            <a:r>
              <a:rPr lang="es-CL" sz="1700">
                <a:solidFill>
                  <a:schemeClr val="dk1"/>
                </a:solidFill>
              </a:rPr>
              <a:t> Biblioteca utilizada para crear la interfaz y sus componentes.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Go 1.24:</a:t>
            </a:r>
            <a:r>
              <a:rPr lang="es-CL" sz="1700">
                <a:solidFill>
                  <a:schemeClr val="dk1"/>
                </a:solidFill>
              </a:rPr>
              <a:t> Lenguaje utilizado para desarrollar el backend y servicios del sistema.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Supabase:</a:t>
            </a:r>
            <a:r>
              <a:rPr lang="es-CL" sz="1700">
                <a:solidFill>
                  <a:schemeClr val="dk1"/>
                </a:solidFill>
              </a:rPr>
              <a:t> Base de datos PostgreSQL utilizada para almacenar y gestionar la información.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Cloudflare:</a:t>
            </a:r>
            <a:r>
              <a:rPr lang="es-CL" sz="1700">
                <a:solidFill>
                  <a:schemeClr val="dk1"/>
                </a:solidFill>
              </a:rPr>
              <a:t> Tecnología utilizada para mejorar la seguridad y protección de la aplicación.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GitHub:</a:t>
            </a:r>
            <a:r>
              <a:rPr lang="es-CL" sz="1700">
                <a:solidFill>
                  <a:schemeClr val="dk1"/>
                </a:solidFill>
              </a:rPr>
              <a:t> Plataforma utilizada para almacenar y gestionar el código del proyecto.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Vercel:</a:t>
            </a:r>
            <a:r>
              <a:rPr lang="es-CL" sz="1700">
                <a:solidFill>
                  <a:schemeClr val="dk1"/>
                </a:solidFill>
              </a:rPr>
              <a:t> Plataforma utilizada para alojar y desplegar la aplicación.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Electron/Tauri:</a:t>
            </a:r>
            <a:r>
              <a:rPr lang="es-CL" sz="1700">
                <a:solidFill>
                  <a:schemeClr val="dk1"/>
                </a:solidFill>
              </a:rPr>
              <a:t> Tecnologías consideradas para desarrollar una futura versión de escritorio.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Impacto Social y Sanitario:</a:t>
            </a:r>
            <a:r>
              <a:rPr lang="es-CL" sz="1800">
                <a:solidFill>
                  <a:schemeClr val="dk1"/>
                </a:solidFill>
              </a:rPr>
              <a:t> MediFlow democratiza el acceso a orientación nutricional confiable, combatiendo la desinformación mediante inteligencia artificial y una red de divulgación médica verificada.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Solidez Técnica y Metodológica:</a:t>
            </a:r>
            <a:r>
              <a:rPr lang="es-CL" sz="1800">
                <a:solidFill>
                  <a:schemeClr val="dk1"/>
                </a:solidFill>
              </a:rPr>
              <a:t> La arquitectura modular (Next.js, Go, Cloudflare e integración de IA) junto con el marco de trabajo Kanban garantizan un desarrollo ágil, seguro y de alta disponibilidad.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</a:rPr>
              <a:t>Viabilidad y Escalabilidad:</a:t>
            </a:r>
            <a:r>
              <a:rPr lang="es-CL" sz="1800">
                <a:solidFill>
                  <a:schemeClr val="dk1"/>
                </a:solidFill>
              </a:rPr>
              <a:t> Con 66 requerimientos estructurados, hitos de entrega bien definidos y una estimación de costos controlada, el proyecto cuenta con bases sólidas para su implementación en Chile y su futura expansión internacional.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